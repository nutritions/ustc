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B104-67BA-4C21-903B-C7F6AFF24088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32EF-4644-4104-9A20-C106BD53A1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B104-67BA-4C21-903B-C7F6AFF24088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32EF-4644-4104-9A20-C106BD53A1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B104-67BA-4C21-903B-C7F6AFF24088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32EF-4644-4104-9A20-C106BD53A1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B104-67BA-4C21-903B-C7F6AFF24088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32EF-4644-4104-9A20-C106BD53A1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B104-67BA-4C21-903B-C7F6AFF24088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32EF-4644-4104-9A20-C106BD53A1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B104-67BA-4C21-903B-C7F6AFF24088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32EF-4644-4104-9A20-C106BD53A1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B104-67BA-4C21-903B-C7F6AFF24088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32EF-4644-4104-9A20-C106BD53A1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B104-67BA-4C21-903B-C7F6AFF24088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32EF-4644-4104-9A20-C106BD53A1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B104-67BA-4C21-903B-C7F6AFF24088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32EF-4644-4104-9A20-C106BD53A1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B104-67BA-4C21-903B-C7F6AFF24088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32EF-4644-4104-9A20-C106BD53A1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B104-67BA-4C21-903B-C7F6AFF24088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32EF-4644-4104-9A20-C106BD53A1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1B104-67BA-4C21-903B-C7F6AFF24088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032EF-4644-4104-9A20-C106BD53A1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0281" y="1085292"/>
            <a:ext cx="10890422" cy="2387600"/>
          </a:xfrm>
        </p:spPr>
        <p:txBody>
          <a:bodyPr/>
          <a:lstStyle/>
          <a:p>
            <a:r>
              <a:rPr lang="zh-CN" altLang="en-US" dirty="0">
                <a:latin typeface="宋体" pitchFamily="2" charset="-122"/>
                <a:ea typeface="宋体" pitchFamily="2" charset="-122"/>
              </a:rPr>
              <a:t>实验一：快速排序算法及其优化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宋体" pitchFamily="2" charset="-122"/>
                <a:ea typeface="宋体" pitchFamily="2" charset="-122"/>
              </a:rPr>
              <a:t>Outline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50308" y="2097473"/>
            <a:ext cx="10515600" cy="4351338"/>
          </a:xfrm>
        </p:spPr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、实验内容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、实验要求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、提交方式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、实验地点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、实验内容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第一部分：</a:t>
            </a:r>
            <a:endParaRPr lang="en-US" altLang="zh-CN" dirty="0"/>
          </a:p>
          <a:p>
            <a:pPr lvl="1"/>
            <a:r>
              <a:rPr lang="zh-CN" altLang="en-US" dirty="0"/>
              <a:t>编程实现</a:t>
            </a:r>
            <a:r>
              <a:rPr lang="zh-CN" altLang="en-US" dirty="0">
                <a:solidFill>
                  <a:srgbClr val="FF0000"/>
                </a:solidFill>
              </a:rPr>
              <a:t>快速排序。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en-US" altLang="zh-CN" dirty="0"/>
          </a:p>
          <a:p>
            <a:r>
              <a:rPr lang="zh-CN" altLang="en-US" dirty="0"/>
              <a:t>第二部分：</a:t>
            </a:r>
            <a:endParaRPr lang="en-US" altLang="zh-CN" dirty="0"/>
          </a:p>
          <a:p>
            <a:pPr lvl="1"/>
            <a:r>
              <a:rPr lang="zh-CN" altLang="en-US" dirty="0"/>
              <a:t>快速排序的</a:t>
            </a:r>
            <a:r>
              <a:rPr lang="zh-CN" altLang="en-US" dirty="0">
                <a:solidFill>
                  <a:srgbClr val="FF0000"/>
                </a:solidFill>
              </a:rPr>
              <a:t>优化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itchFamily="2" charset="-122"/>
                <a:ea typeface="宋体" pitchFamily="2" charset="-122"/>
              </a:rPr>
              <a:t>快排的优化：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62696"/>
            <a:ext cx="10515600" cy="4351338"/>
          </a:xfrm>
        </p:spPr>
        <p:txBody>
          <a:bodyPr/>
          <a:lstStyle/>
          <a:p>
            <a:pPr lvl="1"/>
            <a:r>
              <a:rPr lang="en-US" altLang="zh-CN" dirty="0">
                <a:latin typeface="宋体" pitchFamily="2" charset="-122"/>
                <a:ea typeface="宋体" pitchFamily="2" charset="-122"/>
              </a:rPr>
              <a:t>1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）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基准的选择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：快速排序的运行时间与划分是否对称有关。最坏情况下，每次划分过程产生两个区域分别包含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n-1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个元素和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1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个元素，其时间复杂度会达到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O(n^2)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。在最好的情况下，每次划分所取的基准都恰好是中值，即每次划分都产生两个大小为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n/2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的区域。此时，快排的时间复杂度为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O(</a:t>
            </a:r>
            <a:r>
              <a:rPr lang="en-US" altLang="zh-CN" dirty="0" err="1">
                <a:latin typeface="宋体" pitchFamily="2" charset="-122"/>
                <a:ea typeface="宋体" pitchFamily="2" charset="-122"/>
              </a:rPr>
              <a:t>nlogn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)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。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pPr lvl="1"/>
            <a:r>
              <a:rPr lang="zh-CN" altLang="en-US" dirty="0">
                <a:latin typeface="宋体" pitchFamily="2" charset="-122"/>
                <a:ea typeface="宋体" pitchFamily="2" charset="-122"/>
              </a:rPr>
              <a:t>所以基准的选择对快排而言至关重要。快排中基准的选择方式主要有以下三种：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pPr lvl="2"/>
            <a:r>
              <a:rPr lang="zh-CN" altLang="en-US" dirty="0">
                <a:latin typeface="宋体" pitchFamily="2" charset="-122"/>
                <a:ea typeface="宋体" pitchFamily="2" charset="-122"/>
              </a:rPr>
              <a:t>① 固定基准； 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pPr lvl="2"/>
            <a:r>
              <a:rPr lang="zh-CN" altLang="en-US" dirty="0">
                <a:latin typeface="宋体" pitchFamily="2" charset="-122"/>
                <a:ea typeface="宋体" pitchFamily="2" charset="-122"/>
              </a:rPr>
              <a:t>② 随机基准； 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pPr lvl="2"/>
            <a:r>
              <a:rPr lang="zh-CN" altLang="en-US" dirty="0">
                <a:latin typeface="宋体" pitchFamily="2" charset="-122"/>
                <a:ea typeface="宋体" pitchFamily="2" charset="-122"/>
              </a:rPr>
              <a:t>③ 三数取中。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itchFamily="2" charset="-122"/>
                <a:ea typeface="宋体" pitchFamily="2" charset="-122"/>
              </a:rPr>
              <a:t>快排的优化：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>
                <a:latin typeface="宋体" pitchFamily="2" charset="-122"/>
                <a:ea typeface="宋体" pitchFamily="2" charset="-122"/>
              </a:rPr>
              <a:t>2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）（习题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7.4-5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）当输入数据已经“几乎有序”时，使用插入排序速度很快。我们可以利用这一特点来提高快速排序的速度。当对一个长度小于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k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的子数组调用快速排序时，让她不做任何排序就返回。上层的快速排序调用返回后，对整个数组运行插入排序来完成排序过程。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r>
              <a:rPr lang="en-US" altLang="zh-CN" dirty="0">
                <a:latin typeface="宋体" pitchFamily="2" charset="-122"/>
                <a:ea typeface="宋体" pitchFamily="2" charset="-122"/>
              </a:rPr>
              <a:t>3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）（可选）聚集元素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pPr lvl="1"/>
            <a:r>
              <a:rPr lang="zh-CN" altLang="en-US" dirty="0">
                <a:latin typeface="宋体" pitchFamily="2" charset="-122"/>
                <a:ea typeface="宋体" pitchFamily="2" charset="-122"/>
              </a:rPr>
              <a:t>思想：在一次分割结束后，将与本次基准相等的元素聚集在一起，再分割时，不再对聚集过的元素进行分割。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pPr lvl="2"/>
            <a:r>
              <a:rPr lang="zh-CN" altLang="en-US" dirty="0">
                <a:latin typeface="宋体" pitchFamily="2" charset="-122"/>
                <a:ea typeface="宋体" pitchFamily="2" charset="-122"/>
              </a:rPr>
              <a:t>①在划分过程中将与基准值相等的元素放入数组两端，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pPr lvl="2"/>
            <a:r>
              <a:rPr lang="zh-CN" altLang="en-US" dirty="0">
                <a:latin typeface="宋体" pitchFamily="2" charset="-122"/>
                <a:ea typeface="宋体" pitchFamily="2" charset="-122"/>
              </a:rPr>
              <a:t>②划分结束后，再将两端的元素移到基准值周围。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宋体" pitchFamily="2" charset="-122"/>
                <a:ea typeface="宋体" pitchFamily="2" charset="-122"/>
              </a:rPr>
              <a:t>2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、实验要求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: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宋体" pitchFamily="2" charset="-122"/>
                <a:ea typeface="宋体" pitchFamily="2" charset="-122"/>
              </a:rPr>
              <a:t>输入：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pPr lvl="1"/>
            <a:r>
              <a:rPr lang="zh-CN" altLang="en-US" dirty="0">
                <a:latin typeface="宋体" pitchFamily="2" charset="-122"/>
                <a:ea typeface="宋体" pitchFamily="2" charset="-122"/>
              </a:rPr>
              <a:t>文件名：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data.txt</a:t>
            </a:r>
          </a:p>
          <a:p>
            <a:pPr lvl="1"/>
            <a:r>
              <a:rPr lang="zh-CN" altLang="en-US" dirty="0">
                <a:latin typeface="宋体" pitchFamily="2" charset="-122"/>
                <a:ea typeface="宋体" pitchFamily="2" charset="-122"/>
              </a:rPr>
              <a:t>文件格式： 第一行为 数组长度， 第二行为数组（</a:t>
            </a:r>
            <a:r>
              <a:rPr lang="en-US" altLang="zh-CN" dirty="0" err="1">
                <a:latin typeface="宋体" pitchFamily="2" charset="-122"/>
                <a:ea typeface="宋体" pitchFamily="2" charset="-122"/>
              </a:rPr>
              <a:t>int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类型）的内容。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r>
              <a:rPr lang="zh-CN" altLang="en-US" dirty="0">
                <a:latin typeface="宋体" pitchFamily="2" charset="-122"/>
                <a:ea typeface="宋体" pitchFamily="2" charset="-122"/>
              </a:rPr>
              <a:t>输出：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pPr lvl="1"/>
            <a:r>
              <a:rPr lang="zh-CN" altLang="en-US" dirty="0">
                <a:latin typeface="宋体" pitchFamily="2" charset="-122"/>
                <a:ea typeface="宋体" pitchFamily="2" charset="-122"/>
              </a:rPr>
              <a:t>文件名：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sorted.txt</a:t>
            </a:r>
          </a:p>
          <a:p>
            <a:pPr lvl="1"/>
            <a:r>
              <a:rPr lang="zh-CN" altLang="en-US" dirty="0">
                <a:latin typeface="宋体" pitchFamily="2" charset="-122"/>
                <a:ea typeface="宋体" pitchFamily="2" charset="-122"/>
              </a:rPr>
              <a:t>格式：将结果数组的数据写在一行里，每个数据中间以空格隔开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pPr lvl="1"/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pPr lvl="1"/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pPr lvl="1"/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pPr marL="457200" lvl="1" indent="0">
              <a:buNone/>
            </a:pPr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pPr lvl="1"/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081" y="3206632"/>
            <a:ext cx="9903838" cy="79466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081" y="5997613"/>
            <a:ext cx="9903838" cy="4526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宋体" pitchFamily="2" charset="-122"/>
                <a:ea typeface="宋体" pitchFamily="2" charset="-122"/>
              </a:rPr>
              <a:t>2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、实验要求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: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宋体" pitchFamily="2" charset="-122"/>
                <a:ea typeface="宋体" pitchFamily="2" charset="-122"/>
              </a:rPr>
              <a:t>编程语言：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C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、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C++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、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JAVA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、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Python</a:t>
            </a:r>
          </a:p>
          <a:p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r>
              <a:rPr lang="zh-CN" altLang="en-US" dirty="0">
                <a:latin typeface="宋体" pitchFamily="2" charset="-122"/>
                <a:ea typeface="宋体" pitchFamily="2" charset="-122"/>
              </a:rPr>
              <a:t>算法运行结束后应在控制台打印程序的运行时间（毫秒）。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实验报告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要求：</a:t>
            </a:r>
            <a:endParaRPr lang="en-US" altLang="zh-CN" dirty="0"/>
          </a:p>
          <a:p>
            <a:pPr lvl="1"/>
            <a:r>
              <a:rPr lang="en-US" altLang="zh-CN" dirty="0"/>
              <a:t>1</a:t>
            </a:r>
            <a:r>
              <a:rPr lang="zh-CN" altLang="en-US" dirty="0"/>
              <a:t>、用文字描述你的算法的思想</a:t>
            </a:r>
            <a:endParaRPr lang="en-US" altLang="zh-CN" dirty="0"/>
          </a:p>
          <a:p>
            <a:pPr lvl="1"/>
            <a:r>
              <a:rPr lang="en-US" altLang="zh-CN" dirty="0"/>
              <a:t>2</a:t>
            </a:r>
            <a:r>
              <a:rPr lang="zh-CN" altLang="en-US" dirty="0"/>
              <a:t>、算法的核心代码，并在关键步骤附加注解</a:t>
            </a:r>
            <a:endParaRPr lang="en-US" altLang="zh-CN" dirty="0"/>
          </a:p>
          <a:p>
            <a:pPr lvl="1"/>
            <a:r>
              <a:rPr lang="en-US" altLang="zh-CN" dirty="0"/>
              <a:t>3</a:t>
            </a:r>
            <a:r>
              <a:rPr lang="zh-CN" altLang="en-US" dirty="0"/>
              <a:t>、实验结果分析。（可选择与归并排序，堆排序，冒泡排序等其他排序算法做比较分析）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、提交方式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内容：</a:t>
            </a:r>
            <a:endParaRPr lang="en-US" altLang="zh-CN" dirty="0"/>
          </a:p>
          <a:p>
            <a:pPr lvl="1"/>
            <a:r>
              <a:rPr lang="en-US" altLang="zh-CN" dirty="0"/>
              <a:t>1</a:t>
            </a:r>
            <a:r>
              <a:rPr lang="zh-CN" altLang="en-US" dirty="0"/>
              <a:t>、源码</a:t>
            </a:r>
            <a:endParaRPr lang="en-US" altLang="zh-CN" dirty="0"/>
          </a:p>
          <a:p>
            <a:pPr lvl="1"/>
            <a:r>
              <a:rPr lang="en-US" altLang="zh-CN" dirty="0"/>
              <a:t>2</a:t>
            </a:r>
            <a:r>
              <a:rPr lang="zh-CN" altLang="en-US" dirty="0"/>
              <a:t>、实验报告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（压缩包命名方式为：学号</a:t>
            </a:r>
            <a:r>
              <a:rPr lang="en-US" altLang="zh-CN" dirty="0"/>
              <a:t>-</a:t>
            </a:r>
            <a:r>
              <a:rPr lang="zh-CN" altLang="en-US" dirty="0"/>
              <a:t>姓名</a:t>
            </a:r>
            <a:r>
              <a:rPr lang="en-US" altLang="zh-CN" dirty="0"/>
              <a:t>-</a:t>
            </a:r>
            <a:r>
              <a:rPr lang="zh-CN" altLang="en-US" dirty="0"/>
              <a:t>第</a:t>
            </a:r>
            <a:r>
              <a:rPr lang="en-US" altLang="zh-CN" dirty="0"/>
              <a:t>x</a:t>
            </a:r>
            <a:r>
              <a:rPr lang="zh-CN" altLang="en-US" dirty="0"/>
              <a:t>次试验</a:t>
            </a:r>
            <a:r>
              <a:rPr lang="en-US" altLang="zh-CN" dirty="0"/>
              <a:t>.zip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  				</a:t>
            </a:r>
            <a:r>
              <a:rPr lang="zh-CN" altLang="en-US" dirty="0"/>
              <a:t>例如： </a:t>
            </a:r>
            <a:r>
              <a:rPr lang="en-US" altLang="zh-CN" dirty="0">
                <a:solidFill>
                  <a:srgbClr val="FF0000"/>
                </a:solidFill>
              </a:rPr>
              <a:t>PB19000000-</a:t>
            </a:r>
            <a:r>
              <a:rPr lang="zh-CN" altLang="en-US" dirty="0">
                <a:solidFill>
                  <a:srgbClr val="FF0000"/>
                </a:solidFill>
              </a:rPr>
              <a:t>张三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第一次实验</a:t>
            </a:r>
            <a:r>
              <a:rPr lang="en-US" altLang="zh-CN" dirty="0">
                <a:solidFill>
                  <a:srgbClr val="FF0000"/>
                </a:solidFill>
              </a:rPr>
              <a:t>.zip</a:t>
            </a:r>
            <a:r>
              <a:rPr lang="zh-CN" altLang="en-US" dirty="0"/>
              <a:t>）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zh-CN" altLang="en-US" dirty="0"/>
              <a:t>提交方式：</a:t>
            </a:r>
            <a:endParaRPr lang="en-US" altLang="zh-CN" dirty="0"/>
          </a:p>
          <a:p>
            <a:pPr lvl="1"/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en-US" altLang="zh-CN" dirty="0"/>
              <a:t>11</a:t>
            </a:r>
            <a:r>
              <a:rPr lang="zh-CN" altLang="en-US" dirty="0"/>
              <a:t>月</a:t>
            </a:r>
            <a:r>
              <a:rPr lang="en-US" altLang="zh-CN" dirty="0"/>
              <a:t>15</a:t>
            </a:r>
            <a:r>
              <a:rPr lang="zh-CN" altLang="en-US" dirty="0"/>
              <a:t>日</a:t>
            </a:r>
            <a:r>
              <a:rPr lang="en-US" altLang="zh-CN" dirty="0"/>
              <a:t>23</a:t>
            </a:r>
            <a:r>
              <a:rPr lang="zh-CN" altLang="en-US" dirty="0"/>
              <a:t>：</a:t>
            </a:r>
            <a:r>
              <a:rPr lang="en-US" altLang="zh-CN" dirty="0"/>
              <a:t>59</a:t>
            </a:r>
            <a:r>
              <a:rPr lang="zh-CN" altLang="en-US" dirty="0"/>
              <a:t>：</a:t>
            </a:r>
            <a:r>
              <a:rPr lang="en-US" altLang="zh-CN" dirty="0"/>
              <a:t>59</a:t>
            </a:r>
            <a:r>
              <a:rPr lang="zh-CN" altLang="en-US" dirty="0"/>
              <a:t>前提交到 </a:t>
            </a:r>
            <a:r>
              <a:rPr lang="en-US" altLang="zh-CN" dirty="0"/>
              <a:t>					 		</a:t>
            </a:r>
            <a:r>
              <a:rPr lang="en-US" altLang="zh-CN" dirty="0">
                <a:solidFill>
                  <a:srgbClr val="FF0000"/>
                </a:solidFill>
              </a:rPr>
              <a:t>http://inbox.weiyun.com/homLwRCO</a:t>
            </a:r>
          </a:p>
          <a:p>
            <a:endParaRPr lang="en-US" altLang="zh-CN" dirty="0"/>
          </a:p>
          <a:p>
            <a:endParaRPr lang="en-US" altLang="zh-CN" dirty="0"/>
          </a:p>
          <a:p>
            <a:pPr lvl="1"/>
            <a:endParaRPr lang="en-US" altLang="zh-C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、实验检查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地点：线上腾讯会议</a:t>
            </a:r>
            <a:endParaRPr lang="en-US" altLang="zh-CN" dirty="0"/>
          </a:p>
          <a:p>
            <a:r>
              <a:rPr lang="zh-CN" altLang="en-US" dirty="0"/>
              <a:t>时间：待定</a:t>
            </a:r>
            <a:endParaRPr lang="en-US" altLang="zh-CN" dirty="0"/>
          </a:p>
          <a:p>
            <a:endParaRPr lang="en-US" altLang="zh-CN" dirty="0"/>
          </a:p>
          <a:p>
            <a:pPr lvl="1"/>
            <a:endParaRPr lang="en-US" altLang="zh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564</Words>
  <Application>Microsoft Office PowerPoint</Application>
  <PresentationFormat>宽屏</PresentationFormat>
  <Paragraphs>60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宋体</vt:lpstr>
      <vt:lpstr>Arial</vt:lpstr>
      <vt:lpstr>Office 主题​​</vt:lpstr>
      <vt:lpstr>实验一：快速排序算法及其优化</vt:lpstr>
      <vt:lpstr>Outline：</vt:lpstr>
      <vt:lpstr>1、实验内容</vt:lpstr>
      <vt:lpstr>快排的优化：</vt:lpstr>
      <vt:lpstr>快排的优化：</vt:lpstr>
      <vt:lpstr>2、实验要求:</vt:lpstr>
      <vt:lpstr>2、实验要求:</vt:lpstr>
      <vt:lpstr>实验报告</vt:lpstr>
      <vt:lpstr>3、提交方式</vt:lpstr>
      <vt:lpstr>4、实验检查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实验一：排序算法</dc:title>
  <dc:creator>babar</dc:creator>
  <cp:lastModifiedBy>芷辰 刘</cp:lastModifiedBy>
  <cp:revision>15</cp:revision>
  <dcterms:created xsi:type="dcterms:W3CDTF">2025-10-30T04:10:21Z</dcterms:created>
  <dcterms:modified xsi:type="dcterms:W3CDTF">2025-11-01T17:43:53Z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5A64B2833F991447DFE40269E18A39A4_42</vt:lpwstr>
  </property>
  <property fmtid="{D5CDD505-2E9C-101B-9397-08002B2CF9AE}" pid="3" name="KSOProductBuildVer">
    <vt:lpwstr>2052-12.1.23141.23141</vt:lpwstr>
  </property>
</Properties>
</file>